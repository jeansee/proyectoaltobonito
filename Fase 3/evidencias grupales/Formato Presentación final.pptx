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HY6FrnlXb8LBYIr4flDTM1tDs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5.jpg"/><Relationship Id="rId5" Type="http://schemas.openxmlformats.org/officeDocument/2006/relationships/image" Target="../media/image2.jpg"/><Relationship Id="rId6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14.png"/><Relationship Id="rId8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ALTO BONITO</a:t>
            </a: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121025" y="738250"/>
            <a:ext cx="7633553" cy="6010724"/>
            <a:chOff x="0" y="0"/>
            <a:chExt cx="7633553" cy="4350553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662653" y="0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Katherine Pereira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032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</a:t>
              </a: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FrontEnd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032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FrontEnd, UI/UX, asistencia virtual y insights.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Jeanfranco Sanchez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032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Backend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032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MER, Backend, Orquestación de entornos con Docker y API.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Leonardo Hernandez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032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Analista QA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032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Implementación Google calendar, pruebas funcionales y integración, validación y consolidación de métricas.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ALTO BONITO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238327" y="2603663"/>
            <a:ext cx="3609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equipo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01" name="Google Shape;101;p2" title="WhatsApp Image 2025-11-17 at 19.10.42_9b5b2490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2500" y="839351"/>
            <a:ext cx="1286400" cy="171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 title="WhatsApp Image 2025-11-17 at 19.10.43_86efbb46.jpg"/>
          <p:cNvPicPr preferRelativeResize="0"/>
          <p:nvPr/>
        </p:nvPicPr>
        <p:blipFill rotWithShape="1">
          <a:blip r:embed="rId5">
            <a:alphaModFix/>
          </a:blip>
          <a:srcRect b="0" l="0" r="0" t="9247"/>
          <a:stretch/>
        </p:blipFill>
        <p:spPr>
          <a:xfrm>
            <a:off x="4248800" y="2897751"/>
            <a:ext cx="1417426" cy="1715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 title="WhatsApp Image 2025-11-17 at 19.36.49_063c1c63.jpg"/>
          <p:cNvPicPr preferRelativeResize="0"/>
          <p:nvPr/>
        </p:nvPicPr>
        <p:blipFill rotWithShape="1">
          <a:blip r:embed="rId6">
            <a:alphaModFix/>
          </a:blip>
          <a:srcRect b="0" l="0" r="0" t="15860"/>
          <a:stretch/>
        </p:blipFill>
        <p:spPr>
          <a:xfrm>
            <a:off x="4340675" y="4956150"/>
            <a:ext cx="1417425" cy="1589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“ALTO BONITO”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pyme Quincho Alto Bonito no cuenta con un sistema centralizado de gestión de reservas, lo que genera alta variabilidad de datos, falta de trazabilidad y nula visibilidad en tiempo real de la disponibilidad de los recursos, provocando riesgo de doble reserva y dificultando la evaluación financiera y la identificación del activo más rentable.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web integral de reservas que centralice la gestión de quincho, piscina y cancha, permita consultar disponibilidad en tiempo real, registrar y pagar reservas en línea, y ofrezca un panel administrativo con trazabilidad de arriendos, control de pagos e indicadores que apoyen la toma de decisiones financieras y operativas.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“ALTO BONITO”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" name="Google Shape;123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 sistema web transaccional para gestionar de forma automatizada las reservas y la trazabilidad financiera de los activos quincho, piscina y cancha de Alto Bonito, bajo una arquitectura Cliente–Servidor.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y modelar una base de datos robusta en PostgreSQL/Prisma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la solución web full-stack (frontend + backend)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Integrar servicios externos clave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Aplicar metodologías ágiles y realizar pruebas de calidad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0" name="Google Shape;1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“ALTO BONITO”</a:t>
            </a:r>
            <a:endParaRPr/>
          </a:p>
        </p:txBody>
      </p:sp>
      <p:sp>
        <p:nvSpPr>
          <p:cNvPr id="132" name="Google Shape;132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/>
          </a:p>
        </p:txBody>
      </p:sp>
      <p:cxnSp>
        <p:nvCxnSpPr>
          <p:cNvPr id="133" name="Google Shape;133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4" name="Google Shape;134;p5"/>
          <p:cNvSpPr txBox="1"/>
          <p:nvPr/>
        </p:nvSpPr>
        <p:spPr>
          <a:xfrm>
            <a:off x="818350" y="2475125"/>
            <a:ext cx="49392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web funcional que automatiza el flujo completo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Panel de administración con métricas de negocio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con autenticación Google Sign-in, sincronización de reservas con Google Calendar y envío de comprobantes por correo electrónico.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Implementación de un chatbot para soporte de primer nivel y resolución de preguntas frecuentes.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6661325" y="2475125"/>
            <a:ext cx="4555500" cy="3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i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chatbot es básico: usa respuestas y flujos predefinidos, no entiende lenguaje natural complejo.</a:t>
            </a:r>
            <a:endParaRPr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i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integración de pago aún no cubre todos los errores y casos reales del banco por ejemplo caídas del servicio y devoluciones.</a:t>
            </a:r>
            <a:endParaRPr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0" name="Google Shape;14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“ALTO BONITO”</a:t>
            </a:r>
            <a:endParaRPr/>
          </a:p>
        </p:txBody>
      </p:sp>
      <p:sp>
        <p:nvSpPr>
          <p:cNvPr id="142" name="Google Shape;142;p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4" name="Google Shape;144;p6"/>
          <p:cNvSpPr txBox="1"/>
          <p:nvPr/>
        </p:nvSpPr>
        <p:spPr>
          <a:xfrm>
            <a:off x="1202150" y="2280500"/>
            <a:ext cx="9816600" cy="41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utilizó una metodología ágil con enfoque Scrum para organizar el desarrollo del proyecto. Se trabajó con un backlog de tareas priorizado según el impacto en el negocio.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proyecto se gestionó en iteraciones que dieron origen a 5 etapas: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Inicio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Ejecución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Cierre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utilizaron herramientas de apoyo como GitHub, cronograma y matriz RACI para coordinación del equipo.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9" name="Google Shape;1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“ALTO BONITO”</a:t>
            </a:r>
            <a:endParaRPr/>
          </a:p>
        </p:txBody>
      </p:sp>
      <p:sp>
        <p:nvSpPr>
          <p:cNvPr id="151" name="Google Shape;151;p7"/>
          <p:cNvSpPr txBox="1"/>
          <p:nvPr/>
        </p:nvSpPr>
        <p:spPr>
          <a:xfrm>
            <a:off x="1" y="1155656"/>
            <a:ext cx="1219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3" name="Google Shape;153;p7" title="QUINCHOALTOBONI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2363" y="1956056"/>
            <a:ext cx="7687262" cy="4597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8" name="Google Shape;1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“ALTO BONITO”</a:t>
            </a:r>
            <a:endParaRPr/>
          </a:p>
        </p:txBody>
      </p:sp>
      <p:sp>
        <p:nvSpPr>
          <p:cNvPr id="160" name="Google Shape;160;p8"/>
          <p:cNvSpPr txBox="1"/>
          <p:nvPr/>
        </p:nvSpPr>
        <p:spPr>
          <a:xfrm>
            <a:off x="0" y="1208680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1" name="Google Shape;161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2" name="Google Shape;162;p8" title="Diagrama arquitectura Cliente-servid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8075" y="1941376"/>
            <a:ext cx="3277750" cy="491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7" name="Google Shape;1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“ALTO BONITO”</a:t>
            </a:r>
            <a:endParaRPr/>
          </a:p>
        </p:txBody>
      </p:sp>
      <p:sp>
        <p:nvSpPr>
          <p:cNvPr id="169" name="Google Shape;169;p9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170" name="Google Shape;170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1" name="Google Shape;171;p9" title="Screenshot 2025-11-17 051058.png"/>
          <p:cNvPicPr preferRelativeResize="0"/>
          <p:nvPr/>
        </p:nvPicPr>
        <p:blipFill rotWithShape="1">
          <a:blip r:embed="rId4">
            <a:alphaModFix/>
          </a:blip>
          <a:srcRect b="0" l="0" r="0" t="852"/>
          <a:stretch/>
        </p:blipFill>
        <p:spPr>
          <a:xfrm>
            <a:off x="436275" y="2190225"/>
            <a:ext cx="5481176" cy="4435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9" title="Screenshot 2025-11-17 051105.png"/>
          <p:cNvPicPr preferRelativeResize="0"/>
          <p:nvPr/>
        </p:nvPicPr>
        <p:blipFill rotWithShape="1">
          <a:blip r:embed="rId5">
            <a:alphaModFix/>
          </a:blip>
          <a:srcRect b="426" l="0" r="0" t="426"/>
          <a:stretch/>
        </p:blipFill>
        <p:spPr>
          <a:xfrm>
            <a:off x="6228800" y="2288150"/>
            <a:ext cx="5839974" cy="4435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7" name="Google Shape;1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“ALTO BONITO”</a:t>
            </a:r>
            <a:endParaRPr/>
          </a:p>
        </p:txBody>
      </p:sp>
      <p:sp>
        <p:nvSpPr>
          <p:cNvPr id="179" name="Google Shape;179;p10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180" name="Google Shape;180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1" name="Google Shape;181;p10" title="484448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57275" y="3218525"/>
            <a:ext cx="1599651" cy="159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0" title="prisma_logo-freelogovectors.net_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21937" y="3218524"/>
            <a:ext cx="1317751" cy="159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0" title="postgresql_original_wordmark_logo_icon_14639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15000" y="3218525"/>
            <a:ext cx="1489350" cy="1489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0" title="React-icon.svg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20525" y="3218525"/>
            <a:ext cx="1489350" cy="132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0" title="nextjs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5063" y="3109850"/>
            <a:ext cx="1542849" cy="154284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0"/>
          <p:cNvSpPr txBox="1"/>
          <p:nvPr/>
        </p:nvSpPr>
        <p:spPr>
          <a:xfrm>
            <a:off x="1429925" y="5065675"/>
            <a:ext cx="9531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Next.js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 txBox="1"/>
          <p:nvPr/>
        </p:nvSpPr>
        <p:spPr>
          <a:xfrm>
            <a:off x="3518550" y="5065675"/>
            <a:ext cx="6933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 txBox="1"/>
          <p:nvPr/>
        </p:nvSpPr>
        <p:spPr>
          <a:xfrm>
            <a:off x="5177938" y="5065675"/>
            <a:ext cx="13179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 txBox="1"/>
          <p:nvPr/>
        </p:nvSpPr>
        <p:spPr>
          <a:xfrm>
            <a:off x="7461938" y="5065675"/>
            <a:ext cx="12378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Prisma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9457275" y="5034625"/>
            <a:ext cx="13866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5" name="Google Shape;19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1" name="Google Shape;20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2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  <p:sp>
        <p:nvSpPr>
          <p:cNvPr id="203" name="Google Shape;203;p12"/>
          <p:cNvSpPr txBox="1"/>
          <p:nvPr/>
        </p:nvSpPr>
        <p:spPr>
          <a:xfrm>
            <a:off x="1292850" y="2533800"/>
            <a:ext cx="9606300" cy="38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Implementación de un sistema web transaccional completamente funcional para la gestión de reservas de Alto Bonito.</a:t>
            </a:r>
            <a:b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Automatización del proceso de reserva y reducción del riesgo de errores por gestión manual de horarios.</a:t>
            </a:r>
            <a:b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Panel de administración que transforma datos transaccionales en métricas de inteligencia de negocio </a:t>
            </a: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(rendimiento por activo, recaudación, frecuencia)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exitosa de autenticación Google, sincronización con Google Calendar, 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pagos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chatbot de asistencia.</a:t>
            </a:r>
            <a:b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Validación de competencias del perfil de egreso: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modelado de datos, desarrollo full-stack, gestión de proyectos y aseguramiento de la calidad.</a:t>
            </a:r>
            <a:b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8" name="Google Shape;20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3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  <p:sp>
        <p:nvSpPr>
          <p:cNvPr id="210" name="Google Shape;210;p13"/>
          <p:cNvSpPr txBox="1"/>
          <p:nvPr/>
        </p:nvSpPr>
        <p:spPr>
          <a:xfrm>
            <a:off x="1428750" y="2568225"/>
            <a:ext cx="9334500" cy="3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Principalmente la integración de la API de Google, ya que, por temas de credenciales, hubo inconvenientes al momento de subirlas al repositorio debido a la necesidad de resguardar la privacidad de las claves. Además, en algunas ocasiones se presentaron dificultades de comunicación con la clienta, ya que varias reuniones fueron reagendadas y no siempre se nos proporcionó de manera oportuna la información o los recursos solicitados, como imágenes o antecedentes específicos.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Apoyos durante el desarrollo del proyecto contribuyeron a las soluciones, entre ellos videos tutoriales, documentación oficial de distintas APIs, herramientas de inteligencia artificial que facilitaron el proceso de codificación y diversas páginas web de referencia que sirvieron de inspiración para el diseño de la solución.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5" name="Google Shape;21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