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grandir" panose="020B0604020202020204" charset="0"/>
      <p:regular r:id="rId18"/>
    </p:embeddedFont>
    <p:embeddedFont>
      <p:font typeface="Agrandir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27" y="3916888"/>
            <a:ext cx="18105150" cy="161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PROYECTO “ALTO BONITO”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PRESENTACIÓN FINAL CAPSTONE</a:t>
            </a:r>
          </a:p>
        </p:txBody>
      </p:sp>
      <p:sp>
        <p:nvSpPr>
          <p:cNvPr id="5" name="AutoShape 5"/>
          <p:cNvSpPr/>
          <p:nvPr/>
        </p:nvSpPr>
        <p:spPr>
          <a:xfrm>
            <a:off x="6606390" y="3326338"/>
            <a:ext cx="5075219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6606392" y="6345763"/>
            <a:ext cx="5075219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140332" y="1627127"/>
            <a:ext cx="11450241" cy="2577597"/>
            <a:chOff x="0" y="0"/>
            <a:chExt cx="15266988" cy="34367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66924" cy="3436757"/>
            </a:xfrm>
            <a:custGeom>
              <a:avLst/>
              <a:gdLst/>
              <a:ahLst/>
              <a:cxnLst/>
              <a:rect l="l" t="t" r="r" b="b"/>
              <a:pathLst>
                <a:path w="15266924" h="3436757">
                  <a:moveTo>
                    <a:pt x="0" y="343676"/>
                  </a:moveTo>
                  <a:cubicBezTo>
                    <a:pt x="0" y="153829"/>
                    <a:pt x="168148" y="0"/>
                    <a:pt x="375666" y="0"/>
                  </a:cubicBezTo>
                  <a:lnTo>
                    <a:pt x="14891258" y="0"/>
                  </a:lnTo>
                  <a:cubicBezTo>
                    <a:pt x="15098776" y="0"/>
                    <a:pt x="15266924" y="153829"/>
                    <a:pt x="15266924" y="343676"/>
                  </a:cubicBezTo>
                  <a:lnTo>
                    <a:pt x="15266924" y="3093081"/>
                  </a:lnTo>
                  <a:cubicBezTo>
                    <a:pt x="15266924" y="3282928"/>
                    <a:pt x="15098776" y="3436757"/>
                    <a:pt x="14891258" y="3436757"/>
                  </a:cubicBezTo>
                  <a:lnTo>
                    <a:pt x="375666" y="3436757"/>
                  </a:lnTo>
                  <a:cubicBezTo>
                    <a:pt x="168148" y="3436757"/>
                    <a:pt x="0" y="3282928"/>
                    <a:pt x="0" y="309308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140332" y="4443477"/>
            <a:ext cx="11450241" cy="2577597"/>
            <a:chOff x="0" y="0"/>
            <a:chExt cx="15266988" cy="343679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66924" cy="3436757"/>
            </a:xfrm>
            <a:custGeom>
              <a:avLst/>
              <a:gdLst/>
              <a:ahLst/>
              <a:cxnLst/>
              <a:rect l="l" t="t" r="r" b="b"/>
              <a:pathLst>
                <a:path w="15266924" h="3436757">
                  <a:moveTo>
                    <a:pt x="0" y="343676"/>
                  </a:moveTo>
                  <a:cubicBezTo>
                    <a:pt x="0" y="153829"/>
                    <a:pt x="168148" y="0"/>
                    <a:pt x="375666" y="0"/>
                  </a:cubicBezTo>
                  <a:lnTo>
                    <a:pt x="14891258" y="0"/>
                  </a:lnTo>
                  <a:cubicBezTo>
                    <a:pt x="15098776" y="0"/>
                    <a:pt x="15266924" y="153829"/>
                    <a:pt x="15266924" y="343676"/>
                  </a:cubicBezTo>
                  <a:lnTo>
                    <a:pt x="15266924" y="3093081"/>
                  </a:lnTo>
                  <a:cubicBezTo>
                    <a:pt x="15266924" y="3282928"/>
                    <a:pt x="15098776" y="3436757"/>
                    <a:pt x="14891258" y="3436757"/>
                  </a:cubicBezTo>
                  <a:lnTo>
                    <a:pt x="375666" y="3436757"/>
                  </a:lnTo>
                  <a:cubicBezTo>
                    <a:pt x="168148" y="3436757"/>
                    <a:pt x="0" y="3282928"/>
                    <a:pt x="0" y="309308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AutoShape 8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331994" y="1823020"/>
            <a:ext cx="1639357" cy="2185809"/>
            <a:chOff x="0" y="0"/>
            <a:chExt cx="2572800" cy="3430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572766" cy="3430397"/>
            </a:xfrm>
            <a:custGeom>
              <a:avLst/>
              <a:gdLst/>
              <a:ahLst/>
              <a:cxnLst/>
              <a:rect l="l" t="t" r="r" b="b"/>
              <a:pathLst>
                <a:path w="2572766" h="3430397">
                  <a:moveTo>
                    <a:pt x="0" y="0"/>
                  </a:moveTo>
                  <a:lnTo>
                    <a:pt x="2572766" y="0"/>
                  </a:lnTo>
                  <a:lnTo>
                    <a:pt x="2572766" y="3430397"/>
                  </a:lnTo>
                  <a:lnTo>
                    <a:pt x="0" y="3430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331994" y="4627872"/>
            <a:ext cx="1656605" cy="2208806"/>
            <a:chOff x="0" y="0"/>
            <a:chExt cx="2572800" cy="343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72766" cy="3430397"/>
            </a:xfrm>
            <a:custGeom>
              <a:avLst/>
              <a:gdLst/>
              <a:ahLst/>
              <a:cxnLst/>
              <a:rect l="l" t="t" r="r" b="b"/>
              <a:pathLst>
                <a:path w="2572766" h="3430397">
                  <a:moveTo>
                    <a:pt x="0" y="0"/>
                  </a:moveTo>
                  <a:lnTo>
                    <a:pt x="2572766" y="0"/>
                  </a:lnTo>
                  <a:lnTo>
                    <a:pt x="2572766" y="3430397"/>
                  </a:lnTo>
                  <a:lnTo>
                    <a:pt x="0" y="3430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89" r="-1019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140332" y="7259199"/>
            <a:ext cx="11450241" cy="2577597"/>
            <a:chOff x="0" y="0"/>
            <a:chExt cx="15266988" cy="34367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66924" cy="3436757"/>
            </a:xfrm>
            <a:custGeom>
              <a:avLst/>
              <a:gdLst/>
              <a:ahLst/>
              <a:cxnLst/>
              <a:rect l="l" t="t" r="r" b="b"/>
              <a:pathLst>
                <a:path w="15266924" h="3436757">
                  <a:moveTo>
                    <a:pt x="0" y="343676"/>
                  </a:moveTo>
                  <a:cubicBezTo>
                    <a:pt x="0" y="153829"/>
                    <a:pt x="168148" y="0"/>
                    <a:pt x="375666" y="0"/>
                  </a:cubicBezTo>
                  <a:lnTo>
                    <a:pt x="14891258" y="0"/>
                  </a:lnTo>
                  <a:cubicBezTo>
                    <a:pt x="15098776" y="0"/>
                    <a:pt x="15266924" y="153829"/>
                    <a:pt x="15266924" y="343676"/>
                  </a:cubicBezTo>
                  <a:lnTo>
                    <a:pt x="15266924" y="3093081"/>
                  </a:lnTo>
                  <a:cubicBezTo>
                    <a:pt x="15266924" y="3282928"/>
                    <a:pt x="15098776" y="3436757"/>
                    <a:pt x="14891258" y="3436757"/>
                  </a:cubicBezTo>
                  <a:lnTo>
                    <a:pt x="375666" y="3436757"/>
                  </a:lnTo>
                  <a:cubicBezTo>
                    <a:pt x="168148" y="3436757"/>
                    <a:pt x="0" y="3282928"/>
                    <a:pt x="0" y="309308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6331994" y="7426744"/>
            <a:ext cx="1681880" cy="2242506"/>
            <a:chOff x="0" y="0"/>
            <a:chExt cx="2640192" cy="35202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640203" cy="3520313"/>
            </a:xfrm>
            <a:custGeom>
              <a:avLst/>
              <a:gdLst/>
              <a:ahLst/>
              <a:cxnLst/>
              <a:rect l="l" t="t" r="r" b="b"/>
              <a:pathLst>
                <a:path w="2640203" h="3520313">
                  <a:moveTo>
                    <a:pt x="0" y="0"/>
                  </a:moveTo>
                  <a:lnTo>
                    <a:pt x="2640203" y="0"/>
                  </a:lnTo>
                  <a:lnTo>
                    <a:pt x="2640203" y="3520313"/>
                  </a:lnTo>
                  <a:lnTo>
                    <a:pt x="0" y="3520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313090" y="6457950"/>
            <a:ext cx="1471685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18" name="AutoShape 18"/>
          <p:cNvSpPr/>
          <p:nvPr/>
        </p:nvSpPr>
        <p:spPr>
          <a:xfrm>
            <a:off x="2313090" y="3825443"/>
            <a:ext cx="1471685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19" name="Group 19"/>
          <p:cNvGrpSpPr/>
          <p:nvPr/>
        </p:nvGrpSpPr>
        <p:grpSpPr>
          <a:xfrm>
            <a:off x="192286" y="-91849"/>
            <a:ext cx="482643" cy="1914869"/>
            <a:chOff x="0" y="0"/>
            <a:chExt cx="150603" cy="5975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261504" y="2007621"/>
            <a:ext cx="8758250" cy="175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499" b="1">
                <a:solidFill>
                  <a:srgbClr val="F2A540"/>
                </a:solidFill>
                <a:latin typeface="Agrandir Bold"/>
                <a:ea typeface="Agrandir Bold"/>
                <a:cs typeface="Agrandir Bold"/>
                <a:sym typeface="Agrandir Bold"/>
              </a:rPr>
              <a:t>Katherine Pereira</a:t>
            </a:r>
          </a:p>
          <a:p>
            <a:pPr algn="l">
              <a:lnSpc>
                <a:spcPts val="4212"/>
              </a:lnSpc>
            </a:pPr>
            <a:endParaRPr lang="en-US" sz="3499" b="1">
              <a:solidFill>
                <a:srgbClr val="F2A54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Desarrollador FrontEnd</a:t>
            </a: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Desarrollo FrontEnd, UI/UX, asistencia virtual y insights.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261504" y="4682962"/>
            <a:ext cx="8758160" cy="208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1">
                <a:solidFill>
                  <a:srgbClr val="F2A540"/>
                </a:solidFill>
                <a:latin typeface="Agrandir Bold"/>
                <a:ea typeface="Agrandir Bold"/>
                <a:cs typeface="Agrandir Bold"/>
                <a:sym typeface="Agrandir Bold"/>
              </a:rPr>
              <a:t>Jeanfranco Sánchez</a:t>
            </a:r>
          </a:p>
          <a:p>
            <a:pPr algn="l">
              <a:lnSpc>
                <a:spcPts val="4212"/>
              </a:lnSpc>
            </a:pPr>
            <a:endParaRPr lang="en-US" sz="3500" b="1">
              <a:solidFill>
                <a:srgbClr val="F2A54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Desarrollador Backend</a:t>
            </a: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MER, Backend, Orquestación de entornos con Docker y API.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6185" y="542925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33607" y="3981450"/>
            <a:ext cx="523065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Integrantes del equipo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61504" y="7477768"/>
            <a:ext cx="8758160" cy="208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1">
                <a:solidFill>
                  <a:srgbClr val="F2A540"/>
                </a:solidFill>
                <a:latin typeface="Agrandir Bold"/>
                <a:ea typeface="Agrandir Bold"/>
                <a:cs typeface="Agrandir Bold"/>
                <a:sym typeface="Agrandir Bold"/>
              </a:rPr>
              <a:t>Leonardo Hernandez</a:t>
            </a:r>
          </a:p>
          <a:p>
            <a:pPr algn="l">
              <a:lnSpc>
                <a:spcPts val="4212"/>
              </a:lnSpc>
            </a:pPr>
            <a:endParaRPr lang="en-US" sz="3500" b="1">
              <a:solidFill>
                <a:srgbClr val="F2A54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Analista QA</a:t>
            </a:r>
          </a:p>
          <a:p>
            <a:pPr marL="472440" lvl="2" indent="-157480" algn="l">
              <a:lnSpc>
                <a:spcPts val="2592"/>
              </a:lnSpc>
              <a:buFont typeface="Arial"/>
              <a:buChar char="⚬"/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Implementación Google calendar, pruebas funcionales y integración, validación y consolidación de métricas.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AutoShape 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35469" y="3488263"/>
            <a:ext cx="5765030" cy="6001837"/>
            <a:chOff x="0" y="0"/>
            <a:chExt cx="1518362" cy="15807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18362" cy="1580731"/>
            </a:xfrm>
            <a:custGeom>
              <a:avLst/>
              <a:gdLst/>
              <a:ahLst/>
              <a:cxnLst/>
              <a:rect l="l" t="t" r="r" b="b"/>
              <a:pathLst>
                <a:path w="1518362" h="1580731">
                  <a:moveTo>
                    <a:pt x="68488" y="0"/>
                  </a:moveTo>
                  <a:lnTo>
                    <a:pt x="1449873" y="0"/>
                  </a:lnTo>
                  <a:cubicBezTo>
                    <a:pt x="1487698" y="0"/>
                    <a:pt x="1518362" y="30663"/>
                    <a:pt x="1518362" y="68488"/>
                  </a:cubicBezTo>
                  <a:lnTo>
                    <a:pt x="1518362" y="1512242"/>
                  </a:lnTo>
                  <a:cubicBezTo>
                    <a:pt x="1518362" y="1550067"/>
                    <a:pt x="1487698" y="1580731"/>
                    <a:pt x="1449873" y="1580731"/>
                  </a:cubicBezTo>
                  <a:lnTo>
                    <a:pt x="68488" y="1580731"/>
                  </a:lnTo>
                  <a:cubicBezTo>
                    <a:pt x="30663" y="1580731"/>
                    <a:pt x="0" y="1550067"/>
                    <a:pt x="0" y="1512242"/>
                  </a:cubicBezTo>
                  <a:lnTo>
                    <a:pt x="0" y="68488"/>
                  </a:lnTo>
                  <a:cubicBezTo>
                    <a:pt x="0" y="30663"/>
                    <a:pt x="30663" y="0"/>
                    <a:pt x="68488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1518362" cy="1675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>
                  <a:solidFill>
                    <a:srgbClr val="F2A54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Problema</a:t>
              </a:r>
            </a:p>
            <a:p>
              <a:pPr algn="ctr">
                <a:lnSpc>
                  <a:spcPts val="2520"/>
                </a:lnSpc>
              </a:pPr>
              <a:endParaRPr lang="en-US" sz="3499" b="1">
                <a:solidFill>
                  <a:srgbClr val="F2A540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La pyme Quincho Alto Bonito no cuenta con un sistema centralizado de gestión de reservas, lo que genera alta variabilidad de datos, falta de trazabilidad y nula visibilidad en tiempo real de la disponibilidad de los recursos, provocando riesgo de doble reserva y dificultando la evaluación financiera y la identificación del activo más rentable.</a:t>
              </a:r>
            </a:p>
            <a:p>
              <a:pPr algn="just">
                <a:lnSpc>
                  <a:spcPts val="2520"/>
                </a:lnSpc>
              </a:pPr>
              <a:endPara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452293" y="3473123"/>
            <a:ext cx="5765030" cy="6016977"/>
            <a:chOff x="0" y="0"/>
            <a:chExt cx="1518362" cy="15847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18362" cy="1584718"/>
            </a:xfrm>
            <a:custGeom>
              <a:avLst/>
              <a:gdLst/>
              <a:ahLst/>
              <a:cxnLst/>
              <a:rect l="l" t="t" r="r" b="b"/>
              <a:pathLst>
                <a:path w="1518362" h="1584718">
                  <a:moveTo>
                    <a:pt x="68488" y="0"/>
                  </a:moveTo>
                  <a:lnTo>
                    <a:pt x="1449873" y="0"/>
                  </a:lnTo>
                  <a:cubicBezTo>
                    <a:pt x="1487698" y="0"/>
                    <a:pt x="1518362" y="30663"/>
                    <a:pt x="1518362" y="68488"/>
                  </a:cubicBezTo>
                  <a:lnTo>
                    <a:pt x="1518362" y="1516230"/>
                  </a:lnTo>
                  <a:cubicBezTo>
                    <a:pt x="1518362" y="1554055"/>
                    <a:pt x="1487698" y="1584718"/>
                    <a:pt x="1449873" y="1584718"/>
                  </a:cubicBezTo>
                  <a:lnTo>
                    <a:pt x="68488" y="1584718"/>
                  </a:lnTo>
                  <a:cubicBezTo>
                    <a:pt x="30663" y="1584718"/>
                    <a:pt x="0" y="1554055"/>
                    <a:pt x="0" y="1516230"/>
                  </a:cubicBezTo>
                  <a:lnTo>
                    <a:pt x="0" y="68488"/>
                  </a:lnTo>
                  <a:cubicBezTo>
                    <a:pt x="0" y="30663"/>
                    <a:pt x="30663" y="0"/>
                    <a:pt x="68488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1518362" cy="1679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>
                  <a:solidFill>
                    <a:srgbClr val="F2A54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Propuesta de solución</a:t>
              </a:r>
            </a:p>
            <a:p>
              <a:pPr algn="ctr">
                <a:lnSpc>
                  <a:spcPts val="4199"/>
                </a:lnSpc>
              </a:pPr>
              <a:endParaRPr lang="en-US" sz="3499" b="1">
                <a:solidFill>
                  <a:srgbClr val="F2A540"/>
                </a:solidFill>
                <a:latin typeface="Agrandir Bold"/>
                <a:ea typeface="Agrandir Bold"/>
                <a:cs typeface="Agrandir Bold"/>
                <a:sym typeface="Agrandir Bold"/>
              </a:endParaRPr>
            </a:p>
            <a:p>
              <a:pPr algn="just">
                <a:lnSpc>
                  <a:spcPts val="2520"/>
                </a:lnSpc>
              </a:pPr>
              <a:r>
                <a:rPr lang="en-US" sz="2100">
                  <a:solidFill>
                    <a:srgbClr val="F5F7FC"/>
                  </a:solidFill>
                  <a:latin typeface="Agrandir"/>
                  <a:ea typeface="Agrandir"/>
                  <a:cs typeface="Agrandir"/>
                  <a:sym typeface="Agrandir"/>
                </a:rPr>
                <a:t>Desarrollar una plataforma web integral de reservas que centralice la gestión de quincho, piscina y cancha, permita consultar disponibilidad en tiempo real, registrar y pagar reservas en línea, y ofrezca un panel administrativo con trazabilidad de arriendos, control de pagos e indicadores que apoyen la toma de decisiones financieras y operativas.</a:t>
              </a:r>
            </a:p>
            <a:p>
              <a:pPr algn="just">
                <a:lnSpc>
                  <a:spcPts val="2520"/>
                </a:lnSpc>
              </a:pPr>
              <a:endPara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51525" y="5972141"/>
            <a:ext cx="1549741" cy="1018941"/>
            <a:chOff x="0" y="0"/>
            <a:chExt cx="893270" cy="5873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3270" cy="587317"/>
            </a:xfrm>
            <a:custGeom>
              <a:avLst/>
              <a:gdLst/>
              <a:ahLst/>
              <a:cxnLst/>
              <a:rect l="l" t="t" r="r" b="b"/>
              <a:pathLst>
                <a:path w="893270" h="587317">
                  <a:moveTo>
                    <a:pt x="893270" y="293659"/>
                  </a:moveTo>
                  <a:lnTo>
                    <a:pt x="486870" y="0"/>
                  </a:lnTo>
                  <a:lnTo>
                    <a:pt x="486870" y="203200"/>
                  </a:lnTo>
                  <a:lnTo>
                    <a:pt x="0" y="203200"/>
                  </a:lnTo>
                  <a:lnTo>
                    <a:pt x="0" y="384117"/>
                  </a:lnTo>
                  <a:lnTo>
                    <a:pt x="486870" y="384117"/>
                  </a:lnTo>
                  <a:lnTo>
                    <a:pt x="486870" y="587317"/>
                  </a:lnTo>
                  <a:lnTo>
                    <a:pt x="893270" y="293659"/>
                  </a:ln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93675"/>
              <a:ext cx="791670" cy="190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 rot="218041">
            <a:off x="15354360" y="3137058"/>
            <a:ext cx="1258899" cy="1279152"/>
          </a:xfrm>
          <a:custGeom>
            <a:avLst/>
            <a:gdLst/>
            <a:ahLst/>
            <a:cxnLst/>
            <a:rect l="l" t="t" r="r" b="b"/>
            <a:pathLst>
              <a:path w="1258899" h="1279152">
                <a:moveTo>
                  <a:pt x="0" y="0"/>
                </a:moveTo>
                <a:lnTo>
                  <a:pt x="1258898" y="0"/>
                </a:lnTo>
                <a:lnTo>
                  <a:pt x="1258898" y="1279152"/>
                </a:lnTo>
                <a:lnTo>
                  <a:pt x="0" y="12791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Freeform 18"/>
          <p:cNvSpPr/>
          <p:nvPr/>
        </p:nvSpPr>
        <p:spPr>
          <a:xfrm>
            <a:off x="6427959" y="3232270"/>
            <a:ext cx="1292565" cy="1222551"/>
          </a:xfrm>
          <a:custGeom>
            <a:avLst/>
            <a:gdLst/>
            <a:ahLst/>
            <a:cxnLst/>
            <a:rect l="l" t="t" r="r" b="b"/>
            <a:pathLst>
              <a:path w="1292565" h="1222551">
                <a:moveTo>
                  <a:pt x="0" y="0"/>
                </a:moveTo>
                <a:lnTo>
                  <a:pt x="1292565" y="0"/>
                </a:lnTo>
                <a:lnTo>
                  <a:pt x="1292565" y="1222551"/>
                </a:lnTo>
                <a:lnTo>
                  <a:pt x="0" y="12225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9" name="TextBox 19"/>
          <p:cNvSpPr txBox="1"/>
          <p:nvPr/>
        </p:nvSpPr>
        <p:spPr>
          <a:xfrm>
            <a:off x="853118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84525" y="1564923"/>
            <a:ext cx="811247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Descripción del proyecto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AutoShape 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2246" y="3266967"/>
            <a:ext cx="16347054" cy="2274767"/>
            <a:chOff x="0" y="0"/>
            <a:chExt cx="4305397" cy="5991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05397" cy="599116"/>
            </a:xfrm>
            <a:custGeom>
              <a:avLst/>
              <a:gdLst/>
              <a:ahLst/>
              <a:cxnLst/>
              <a:rect l="l" t="t" r="r" b="b"/>
              <a:pathLst>
                <a:path w="4305397" h="599116">
                  <a:moveTo>
                    <a:pt x="24153" y="0"/>
                  </a:moveTo>
                  <a:lnTo>
                    <a:pt x="4281243" y="0"/>
                  </a:lnTo>
                  <a:cubicBezTo>
                    <a:pt x="4294583" y="0"/>
                    <a:pt x="4305397" y="10814"/>
                    <a:pt x="4305397" y="24153"/>
                  </a:cubicBezTo>
                  <a:lnTo>
                    <a:pt x="4305397" y="574962"/>
                  </a:lnTo>
                  <a:cubicBezTo>
                    <a:pt x="4305397" y="588302"/>
                    <a:pt x="4294583" y="599116"/>
                    <a:pt x="4281243" y="599116"/>
                  </a:cubicBezTo>
                  <a:lnTo>
                    <a:pt x="24153" y="599116"/>
                  </a:lnTo>
                  <a:cubicBezTo>
                    <a:pt x="10814" y="599116"/>
                    <a:pt x="0" y="588302"/>
                    <a:pt x="0" y="574962"/>
                  </a:cubicBezTo>
                  <a:lnTo>
                    <a:pt x="0" y="24153"/>
                  </a:lnTo>
                  <a:cubicBezTo>
                    <a:pt x="0" y="10814"/>
                    <a:pt x="10814" y="0"/>
                    <a:pt x="24153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4305397" cy="665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Implementar un sistema web transaccional para gestionar de forma automatizada las reservas y la trazabilidad financiera de los activos quincho, piscina y cancha de Alto Bonito, bajo una arquitectura Cliente–Servidor.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2246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5400" y="2019192"/>
            <a:ext cx="7391400" cy="811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Objetivo</a:t>
            </a:r>
            <a:r>
              <a:rPr lang="en-US" sz="54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General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48201" y="6093510"/>
            <a:ext cx="8915400" cy="811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Objetivos</a:t>
            </a:r>
            <a:r>
              <a:rPr lang="en-US" sz="5400" dirty="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5400" dirty="0" err="1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Específicos</a:t>
            </a:r>
            <a:endParaRPr lang="en-US" sz="5400" dirty="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12246" y="7340944"/>
            <a:ext cx="16347054" cy="2274767"/>
            <a:chOff x="0" y="0"/>
            <a:chExt cx="4305397" cy="5991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05397" cy="599116"/>
            </a:xfrm>
            <a:custGeom>
              <a:avLst/>
              <a:gdLst/>
              <a:ahLst/>
              <a:cxnLst/>
              <a:rect l="l" t="t" r="r" b="b"/>
              <a:pathLst>
                <a:path w="4305397" h="599116">
                  <a:moveTo>
                    <a:pt x="24153" y="0"/>
                  </a:moveTo>
                  <a:lnTo>
                    <a:pt x="4281243" y="0"/>
                  </a:lnTo>
                  <a:cubicBezTo>
                    <a:pt x="4294583" y="0"/>
                    <a:pt x="4305397" y="10814"/>
                    <a:pt x="4305397" y="24153"/>
                  </a:cubicBezTo>
                  <a:lnTo>
                    <a:pt x="4305397" y="574962"/>
                  </a:lnTo>
                  <a:cubicBezTo>
                    <a:pt x="4305397" y="588302"/>
                    <a:pt x="4294583" y="599116"/>
                    <a:pt x="4281243" y="599116"/>
                  </a:cubicBezTo>
                  <a:lnTo>
                    <a:pt x="24153" y="599116"/>
                  </a:lnTo>
                  <a:cubicBezTo>
                    <a:pt x="10814" y="599116"/>
                    <a:pt x="0" y="588302"/>
                    <a:pt x="0" y="574962"/>
                  </a:cubicBezTo>
                  <a:lnTo>
                    <a:pt x="0" y="24153"/>
                  </a:lnTo>
                  <a:cubicBezTo>
                    <a:pt x="0" y="10814"/>
                    <a:pt x="10814" y="0"/>
                    <a:pt x="24153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4305397" cy="6657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453390" lvl="1" indent="-226695" algn="l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Diseñar y modelar una base de datos robusta en PostgreSQL/Prisma</a:t>
              </a:r>
            </a:p>
            <a:p>
              <a:pPr marL="453390" lvl="1" indent="-226695" algn="l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Desarrollar la solución web full-stack (frontend + backend) </a:t>
              </a:r>
            </a:p>
            <a:p>
              <a:pPr marL="453390" lvl="1" indent="-226695" algn="l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Integrar servicios externos clave </a:t>
              </a:r>
            </a:p>
            <a:p>
              <a:pPr marL="453390" lvl="1" indent="-226695" algn="l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Aplicar metodologías ágiles y realizar pruebas de calidad</a:t>
              </a:r>
            </a:p>
            <a:p>
              <a:pPr algn="l">
                <a:lnSpc>
                  <a:spcPts val="2520"/>
                </a:lnSpc>
              </a:pPr>
              <a:endPara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AutoShape 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1697" y="3434225"/>
            <a:ext cx="6930653" cy="5220649"/>
            <a:chOff x="0" y="0"/>
            <a:chExt cx="1825357" cy="13749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5357" cy="1374986"/>
            </a:xfrm>
            <a:custGeom>
              <a:avLst/>
              <a:gdLst/>
              <a:ahLst/>
              <a:cxnLst/>
              <a:rect l="l" t="t" r="r" b="b"/>
              <a:pathLst>
                <a:path w="1825357" h="1374986">
                  <a:moveTo>
                    <a:pt x="56970" y="0"/>
                  </a:moveTo>
                  <a:lnTo>
                    <a:pt x="1768387" y="0"/>
                  </a:lnTo>
                  <a:cubicBezTo>
                    <a:pt x="1799851" y="0"/>
                    <a:pt x="1825357" y="25506"/>
                    <a:pt x="1825357" y="56970"/>
                  </a:cubicBezTo>
                  <a:lnTo>
                    <a:pt x="1825357" y="1318016"/>
                  </a:lnTo>
                  <a:cubicBezTo>
                    <a:pt x="1825357" y="1333125"/>
                    <a:pt x="1819355" y="1347616"/>
                    <a:pt x="1808671" y="1358300"/>
                  </a:cubicBezTo>
                  <a:cubicBezTo>
                    <a:pt x="1797987" y="1368983"/>
                    <a:pt x="1783497" y="1374986"/>
                    <a:pt x="1768387" y="1374986"/>
                  </a:cubicBezTo>
                  <a:lnTo>
                    <a:pt x="56970" y="1374986"/>
                  </a:lnTo>
                  <a:cubicBezTo>
                    <a:pt x="41860" y="1374986"/>
                    <a:pt x="27370" y="1368983"/>
                    <a:pt x="16686" y="1358300"/>
                  </a:cubicBezTo>
                  <a:cubicBezTo>
                    <a:pt x="6002" y="1347616"/>
                    <a:pt x="0" y="1333125"/>
                    <a:pt x="0" y="1318016"/>
                  </a:cubicBezTo>
                  <a:lnTo>
                    <a:pt x="0" y="56970"/>
                  </a:lnTo>
                  <a:cubicBezTo>
                    <a:pt x="0" y="41860"/>
                    <a:pt x="6002" y="27370"/>
                    <a:pt x="16686" y="16686"/>
                  </a:cubicBezTo>
                  <a:cubicBezTo>
                    <a:pt x="27370" y="6002"/>
                    <a:pt x="41860" y="0"/>
                    <a:pt x="56970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825357" cy="1384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7417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88953" y="1734373"/>
            <a:ext cx="1171009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Alcances y limitaciones del proyecto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51697" y="3934762"/>
            <a:ext cx="6703519" cy="415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Sistema web funcional que automatiza el flujo completo</a:t>
            </a:r>
          </a:p>
          <a:p>
            <a:pPr marL="546735" lvl="1" indent="-273368" algn="l">
              <a:lnSpc>
                <a:spcPts val="2520"/>
              </a:lnSpc>
            </a:pPr>
            <a:endParaRPr lang="en-US" sz="2100">
              <a:solidFill>
                <a:srgbClr val="F5F7FC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Panel de administración con métricas de negocio</a:t>
            </a:r>
          </a:p>
          <a:p>
            <a:pPr marL="546735" lvl="1" indent="-273368" algn="l">
              <a:lnSpc>
                <a:spcPts val="2520"/>
              </a:lnSpc>
            </a:pPr>
            <a:endParaRPr lang="en-US" sz="2100">
              <a:solidFill>
                <a:srgbClr val="F5F7FC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Integración con autenticación Google Sign-in, sincronización de reservas con Google Calendar y envío de comprobantes por correo electrónico.</a:t>
            </a:r>
          </a:p>
          <a:p>
            <a:pPr marL="546735" lvl="1" indent="-273368" algn="l">
              <a:lnSpc>
                <a:spcPts val="2520"/>
              </a:lnSpc>
            </a:pPr>
            <a:endParaRPr lang="en-US" sz="2100">
              <a:solidFill>
                <a:srgbClr val="F5F7FC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Implementación de un chatbot para soporte de primer nivel y resolución de preguntas frecuentes.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805650" y="3407459"/>
            <a:ext cx="6930653" cy="5220649"/>
            <a:chOff x="0" y="0"/>
            <a:chExt cx="1825357" cy="137498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825357" cy="1374986"/>
            </a:xfrm>
            <a:custGeom>
              <a:avLst/>
              <a:gdLst/>
              <a:ahLst/>
              <a:cxnLst/>
              <a:rect l="l" t="t" r="r" b="b"/>
              <a:pathLst>
                <a:path w="1825357" h="1374986">
                  <a:moveTo>
                    <a:pt x="56970" y="0"/>
                  </a:moveTo>
                  <a:lnTo>
                    <a:pt x="1768387" y="0"/>
                  </a:lnTo>
                  <a:cubicBezTo>
                    <a:pt x="1799851" y="0"/>
                    <a:pt x="1825357" y="25506"/>
                    <a:pt x="1825357" y="56970"/>
                  </a:cubicBezTo>
                  <a:lnTo>
                    <a:pt x="1825357" y="1318016"/>
                  </a:lnTo>
                  <a:cubicBezTo>
                    <a:pt x="1825357" y="1333125"/>
                    <a:pt x="1819355" y="1347616"/>
                    <a:pt x="1808671" y="1358300"/>
                  </a:cubicBezTo>
                  <a:cubicBezTo>
                    <a:pt x="1797987" y="1368983"/>
                    <a:pt x="1783497" y="1374986"/>
                    <a:pt x="1768387" y="1374986"/>
                  </a:cubicBezTo>
                  <a:lnTo>
                    <a:pt x="56970" y="1374986"/>
                  </a:lnTo>
                  <a:cubicBezTo>
                    <a:pt x="41860" y="1374986"/>
                    <a:pt x="27370" y="1368983"/>
                    <a:pt x="16686" y="1358300"/>
                  </a:cubicBezTo>
                  <a:cubicBezTo>
                    <a:pt x="6002" y="1347616"/>
                    <a:pt x="0" y="1333125"/>
                    <a:pt x="0" y="1318016"/>
                  </a:cubicBezTo>
                  <a:lnTo>
                    <a:pt x="0" y="56970"/>
                  </a:lnTo>
                  <a:cubicBezTo>
                    <a:pt x="0" y="41860"/>
                    <a:pt x="6002" y="27370"/>
                    <a:pt x="16686" y="16686"/>
                  </a:cubicBezTo>
                  <a:cubicBezTo>
                    <a:pt x="27370" y="6002"/>
                    <a:pt x="41860" y="0"/>
                    <a:pt x="56970" y="0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825357" cy="13845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945776" y="4877737"/>
            <a:ext cx="6650400" cy="2266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El chatbot es básico: usa respuestas y flujos predefinidos, no entiende lenguaje natural complejo.</a:t>
            </a:r>
          </a:p>
          <a:p>
            <a:pPr marL="546735" lvl="1" indent="-273368" algn="l">
              <a:lnSpc>
                <a:spcPts val="2520"/>
              </a:lnSpc>
            </a:pPr>
            <a:endParaRPr lang="en-US" sz="2100">
              <a:solidFill>
                <a:srgbClr val="F5F7FC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520"/>
              </a:lnSpc>
              <a:buFont typeface="Arial"/>
              <a:buChar char="•"/>
            </a:pPr>
            <a:r>
              <a:rPr lang="en-US" sz="2100">
                <a:solidFill>
                  <a:srgbClr val="F5F7FC"/>
                </a:solidFill>
                <a:latin typeface="Agrandir"/>
                <a:ea typeface="Agrandir"/>
                <a:cs typeface="Agrandir"/>
                <a:sym typeface="Agrandir"/>
              </a:rPr>
              <a:t>La integración de pago aún no cubre todos los errores y casos reales del banco por ejemplo caídas del servicio y devoluciones.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AutoShape 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88420" y="3472291"/>
            <a:ext cx="14542050" cy="509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 utilizó una metodología ágil con enfoque Scrum para organizar el desarrollo del proyecto. Se trabajó con un backlog de tareas priorizado según el impacto en el negocio.</a:t>
            </a:r>
          </a:p>
          <a:p>
            <a:pPr algn="just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El proyecto se gestionó en iteraciones que dieron origen a 5 etapas:</a:t>
            </a:r>
          </a:p>
          <a:p>
            <a:pPr algn="just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just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Inicio</a:t>
            </a:r>
          </a:p>
          <a:p>
            <a:pPr marL="546735" lvl="1" indent="-273368" algn="just">
              <a:lnSpc>
                <a:spcPts val="2520"/>
              </a:lnSpc>
            </a:pPr>
            <a:endParaRPr lang="en-US" sz="21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46735" lvl="1" indent="-273368" algn="just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Planificación</a:t>
            </a:r>
          </a:p>
          <a:p>
            <a:pPr marL="546735" lvl="1" indent="-273368" algn="just">
              <a:lnSpc>
                <a:spcPts val="2520"/>
              </a:lnSpc>
            </a:pPr>
            <a:endParaRPr lang="en-US" sz="21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46735" lvl="1" indent="-273368" algn="just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Ejecución</a:t>
            </a:r>
          </a:p>
          <a:p>
            <a:pPr marL="546735" lvl="1" indent="-273368" algn="just">
              <a:lnSpc>
                <a:spcPts val="2520"/>
              </a:lnSpc>
            </a:pPr>
            <a:endParaRPr lang="en-US" sz="21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46735" lvl="1" indent="-273368" algn="just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Control</a:t>
            </a:r>
          </a:p>
          <a:p>
            <a:pPr marL="546735" lvl="1" indent="-273368" algn="just">
              <a:lnSpc>
                <a:spcPts val="2520"/>
              </a:lnSpc>
            </a:pPr>
            <a:endParaRPr lang="en-US" sz="21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46735" lvl="1" indent="-273368" algn="just">
              <a:lnSpc>
                <a:spcPts val="2520"/>
              </a:lnSpc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Cierre</a:t>
            </a:r>
          </a:p>
          <a:p>
            <a:pPr marL="546735" lvl="1" indent="-273368" algn="just">
              <a:lnSpc>
                <a:spcPts val="2520"/>
              </a:lnSpc>
            </a:pPr>
            <a:endParaRPr lang="en-US" sz="2100" b="1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  <a:p>
            <a:pPr marL="546735" lvl="1" indent="-273368" algn="just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Se utilizaron herramientas de apoyo como GitHub, cronograma y matriz RACI para coordinación del equipo.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8511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51624" y="1867118"/>
            <a:ext cx="778475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Metodología de trabajo 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195506" y="2"/>
            <a:ext cx="15896988" cy="10286998"/>
            <a:chOff x="0" y="0"/>
            <a:chExt cx="21195984" cy="137159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196046" cy="13716000"/>
            </a:xfrm>
            <a:custGeom>
              <a:avLst/>
              <a:gdLst/>
              <a:ahLst/>
              <a:cxnLst/>
              <a:rect l="l" t="t" r="r" b="b"/>
              <a:pathLst>
                <a:path w="21196046" h="13716000">
                  <a:moveTo>
                    <a:pt x="0" y="0"/>
                  </a:moveTo>
                  <a:lnTo>
                    <a:pt x="21196046" y="0"/>
                  </a:lnTo>
                  <a:lnTo>
                    <a:pt x="21196046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71720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32150" y="1626189"/>
            <a:ext cx="18105150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Arquitectura del software</a:t>
            </a:r>
          </a:p>
          <a:p>
            <a:pPr algn="ctr">
              <a:lnSpc>
                <a:spcPts val="2520"/>
              </a:lnSpc>
            </a:pPr>
            <a:endParaRPr lang="en-US" sz="54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AutoShape 6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6462112" y="2912064"/>
            <a:ext cx="4916624" cy="7374936"/>
            <a:chOff x="0" y="0"/>
            <a:chExt cx="6555500" cy="9833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55486" cy="9833229"/>
            </a:xfrm>
            <a:custGeom>
              <a:avLst/>
              <a:gdLst/>
              <a:ahLst/>
              <a:cxnLst/>
              <a:rect l="l" t="t" r="r" b="b"/>
              <a:pathLst>
                <a:path w="6555486" h="9833229">
                  <a:moveTo>
                    <a:pt x="0" y="0"/>
                  </a:moveTo>
                  <a:lnTo>
                    <a:pt x="6555486" y="0"/>
                  </a:lnTo>
                  <a:lnTo>
                    <a:pt x="6555486" y="9833229"/>
                  </a:lnTo>
                  <a:lnTo>
                    <a:pt x="0" y="9833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85116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31607" y="1000682"/>
            <a:ext cx="5424785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Modelo de datos</a:t>
            </a:r>
          </a:p>
        </p:txBody>
      </p:sp>
      <p:sp>
        <p:nvSpPr>
          <p:cNvPr id="6" name="AutoShape 6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3258112" y="2077125"/>
            <a:ext cx="12020848" cy="8032949"/>
            <a:chOff x="0" y="0"/>
            <a:chExt cx="16027798" cy="107105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27781" cy="10710545"/>
            </a:xfrm>
            <a:custGeom>
              <a:avLst/>
              <a:gdLst/>
              <a:ahLst/>
              <a:cxnLst/>
              <a:rect l="l" t="t" r="r" b="b"/>
              <a:pathLst>
                <a:path w="16027781" h="10710545">
                  <a:moveTo>
                    <a:pt x="0" y="0"/>
                  </a:moveTo>
                  <a:lnTo>
                    <a:pt x="16027781" y="0"/>
                  </a:lnTo>
                  <a:lnTo>
                    <a:pt x="16027781" y="10710545"/>
                  </a:lnTo>
                  <a:lnTo>
                    <a:pt x="0" y="10710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AutoShape 4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2025118" y="4536830"/>
            <a:ext cx="1937975" cy="1937975"/>
            <a:chOff x="0" y="0"/>
            <a:chExt cx="3199302" cy="319930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99257" cy="3199257"/>
            </a:xfrm>
            <a:custGeom>
              <a:avLst/>
              <a:gdLst/>
              <a:ahLst/>
              <a:cxnLst/>
              <a:rect l="l" t="t" r="r" b="b"/>
              <a:pathLst>
                <a:path w="3199257" h="3199257">
                  <a:moveTo>
                    <a:pt x="0" y="0"/>
                  </a:moveTo>
                  <a:lnTo>
                    <a:pt x="3199257" y="0"/>
                  </a:lnTo>
                  <a:lnTo>
                    <a:pt x="3199257" y="3199257"/>
                  </a:lnTo>
                  <a:lnTo>
                    <a:pt x="0" y="3199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9559309" y="4536829"/>
            <a:ext cx="1596453" cy="1937975"/>
            <a:chOff x="0" y="0"/>
            <a:chExt cx="2635502" cy="31993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635504" cy="3199257"/>
            </a:xfrm>
            <a:custGeom>
              <a:avLst/>
              <a:gdLst/>
              <a:ahLst/>
              <a:cxnLst/>
              <a:rect l="l" t="t" r="r" b="b"/>
              <a:pathLst>
                <a:path w="2635504" h="3199257">
                  <a:moveTo>
                    <a:pt x="0" y="0"/>
                  </a:moveTo>
                  <a:lnTo>
                    <a:pt x="2635504" y="0"/>
                  </a:lnTo>
                  <a:lnTo>
                    <a:pt x="2635504" y="3199257"/>
                  </a:lnTo>
                  <a:lnTo>
                    <a:pt x="0" y="3199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6885608" y="4536830"/>
            <a:ext cx="1804345" cy="1804316"/>
            <a:chOff x="0" y="0"/>
            <a:chExt cx="2978700" cy="29786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78658" cy="2978658"/>
            </a:xfrm>
            <a:custGeom>
              <a:avLst/>
              <a:gdLst/>
              <a:ahLst/>
              <a:cxnLst/>
              <a:rect l="l" t="t" r="r" b="b"/>
              <a:pathLst>
                <a:path w="2978658" h="2978658">
                  <a:moveTo>
                    <a:pt x="0" y="0"/>
                  </a:moveTo>
                  <a:lnTo>
                    <a:pt x="2978658" y="0"/>
                  </a:lnTo>
                  <a:lnTo>
                    <a:pt x="2978658" y="2978658"/>
                  </a:lnTo>
                  <a:lnTo>
                    <a:pt x="0" y="2978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4348155" y="4536830"/>
            <a:ext cx="1804345" cy="1605841"/>
            <a:chOff x="0" y="0"/>
            <a:chExt cx="2978700" cy="2651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78658" cy="2650998"/>
            </a:xfrm>
            <a:custGeom>
              <a:avLst/>
              <a:gdLst/>
              <a:ahLst/>
              <a:cxnLst/>
              <a:rect l="l" t="t" r="r" b="b"/>
              <a:pathLst>
                <a:path w="2978658" h="2650998">
                  <a:moveTo>
                    <a:pt x="0" y="0"/>
                  </a:moveTo>
                  <a:lnTo>
                    <a:pt x="2978658" y="0"/>
                  </a:lnTo>
                  <a:lnTo>
                    <a:pt x="2978658" y="2650998"/>
                  </a:lnTo>
                  <a:lnTo>
                    <a:pt x="0" y="2650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842414" y="4271304"/>
            <a:ext cx="2069842" cy="2069842"/>
          </a:xfrm>
          <a:custGeom>
            <a:avLst/>
            <a:gdLst/>
            <a:ahLst/>
            <a:cxnLst/>
            <a:rect l="l" t="t" r="r" b="b"/>
            <a:pathLst>
              <a:path w="2069842" h="2069842">
                <a:moveTo>
                  <a:pt x="0" y="0"/>
                </a:moveTo>
                <a:lnTo>
                  <a:pt x="2069842" y="0"/>
                </a:lnTo>
                <a:lnTo>
                  <a:pt x="2069842" y="2069842"/>
                </a:lnTo>
                <a:lnTo>
                  <a:pt x="0" y="206984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Freeform 17"/>
          <p:cNvSpPr/>
          <p:nvPr/>
        </p:nvSpPr>
        <p:spPr>
          <a:xfrm>
            <a:off x="14602748" y="4460691"/>
            <a:ext cx="1842838" cy="1842838"/>
          </a:xfrm>
          <a:custGeom>
            <a:avLst/>
            <a:gdLst/>
            <a:ahLst/>
            <a:cxnLst/>
            <a:rect l="l" t="t" r="r" b="b"/>
            <a:pathLst>
              <a:path w="1842838" h="1842838">
                <a:moveTo>
                  <a:pt x="0" y="0"/>
                </a:moveTo>
                <a:lnTo>
                  <a:pt x="1842838" y="0"/>
                </a:lnTo>
                <a:lnTo>
                  <a:pt x="1842838" y="1842838"/>
                </a:lnTo>
                <a:lnTo>
                  <a:pt x="0" y="18428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8" name="TextBox 18"/>
          <p:cNvSpPr txBox="1"/>
          <p:nvPr/>
        </p:nvSpPr>
        <p:spPr>
          <a:xfrm>
            <a:off x="885116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664250" y="2130399"/>
            <a:ext cx="695950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Tecnologías utilizadas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498695" y="6791340"/>
            <a:ext cx="757281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Nest.js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95066" y="6791340"/>
            <a:ext cx="710522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React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32710" y="6791340"/>
            <a:ext cx="1412630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PostgreSQL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60475" y="6791340"/>
            <a:ext cx="794184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Prisma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450228" y="6753723"/>
            <a:ext cx="829644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Docker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89304" y="6753723"/>
            <a:ext cx="1469727" cy="349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</a:pPr>
            <a:r>
              <a:rPr lang="en-US" sz="1938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Tailwind CSS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27" y="3916888"/>
            <a:ext cx="18105150" cy="310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6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DEMOSTRACIÓN DEL RESULTADO DEL PROYECTO</a:t>
            </a:r>
          </a:p>
          <a:p>
            <a:pPr algn="ctr">
              <a:lnSpc>
                <a:spcPts val="7680"/>
              </a:lnSpc>
            </a:pPr>
            <a:endParaRPr lang="en-US" sz="64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4550087" y="3423574"/>
            <a:ext cx="9187827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6" name="AutoShape 6"/>
          <p:cNvSpPr/>
          <p:nvPr/>
        </p:nvSpPr>
        <p:spPr>
          <a:xfrm>
            <a:off x="4550088" y="6441013"/>
            <a:ext cx="9187827" cy="0"/>
          </a:xfrm>
          <a:prstGeom prst="line">
            <a:avLst/>
          </a:prstGeom>
          <a:ln w="38100" cap="flat">
            <a:solidFill>
              <a:srgbClr val="1C30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7" name="AutoShape 7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8" name="Group 8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98511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650483" y="1551729"/>
            <a:ext cx="6987034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Resultados obtenidos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0700" y="3123491"/>
            <a:ext cx="14226600" cy="5452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6735" lvl="1" indent="-273368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Implementación de un sistema web transaccional completamente funcional para la gestión de reservas de Alto Bonito.</a:t>
            </a:r>
          </a:p>
          <a:p>
            <a:pPr marL="546735" lvl="1" indent="-273368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Automatización del proceso de reserva y reducción del riesgo de errores por gestión manual de horarios.</a:t>
            </a:r>
          </a:p>
          <a:p>
            <a:pPr marL="546735" lvl="1" indent="-273368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Panel de administración que transforma datos transaccionales en métricas de inteligencia de negocio (rendimiento por activo, recaudación, frecuencia).</a:t>
            </a:r>
          </a:p>
          <a:p>
            <a:pPr marL="546735" lvl="1" indent="-273368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Integración exitosa de autenticación Google, sincronización con Google Calendar, pagos y chatbot de asistencia.</a:t>
            </a:r>
          </a:p>
          <a:p>
            <a:pPr marL="546735" lvl="1" indent="-273368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897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Validación de competencias del perfil de egreso: modelado de datos, desarrollo full-stack, gestión de proyectos y aseguramiento de la calidad.</a:t>
            </a:r>
          </a:p>
          <a:p>
            <a:pPr marL="546735" lvl="1" indent="-273368" algn="l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marL="546735" lvl="1" indent="-273368" algn="l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AutoShape 6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8511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01998" y="2154234"/>
            <a:ext cx="1488400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Obstáculos presentados durante el desarrollo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64146" y="3983555"/>
            <a:ext cx="12559708" cy="352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Principalmente la integración de la API de Google, ya que, por temas de credenciales, hubo inconvenientes al momento de subirlas al repositorio debido a la necesidad de resguardar la privacidad de las claves. Además, en algunas ocasiones se presentaron dificultades de comunicación con la clienta, ya que varias reuniones fueron reagendadas y no siempre se nos proporcionó de manera oportuna la información o los recursos solicitados, como imágenes o antecedentes específicos.</a:t>
            </a:r>
          </a:p>
          <a:p>
            <a:pPr algn="just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Apoyos durante el desarrollo del proyecto contribuyeron a las soluciones, entre ellos videos tutoriales, documentación oficial de distintas APIs, herramientas de inteligencia artificial que facilitaron el proceso de codificación y diversas páginas web de referencia que sirvieron de inspiración para el diseño de la solución.</a:t>
            </a:r>
          </a:p>
        </p:txBody>
      </p:sp>
      <p:sp>
        <p:nvSpPr>
          <p:cNvPr id="6" name="AutoShape 6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8511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7300" y="1439180"/>
            <a:ext cx="15773400" cy="1988550"/>
            <a:chOff x="0" y="0"/>
            <a:chExt cx="21031200" cy="2651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031200" cy="2651400"/>
            </a:xfrm>
            <a:custGeom>
              <a:avLst/>
              <a:gdLst/>
              <a:ahLst/>
              <a:cxnLst/>
              <a:rect l="l" t="t" r="r" b="b"/>
              <a:pathLst>
                <a:path w="21031200" h="2651400">
                  <a:moveTo>
                    <a:pt x="0" y="0"/>
                  </a:moveTo>
                  <a:lnTo>
                    <a:pt x="21031200" y="0"/>
                  </a:lnTo>
                  <a:lnTo>
                    <a:pt x="21031200" y="2651400"/>
                  </a:lnTo>
                  <a:lnTo>
                    <a:pt x="0" y="26514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21031200" cy="27466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832"/>
                </a:lnSpc>
              </a:pPr>
              <a:r>
                <a:rPr lang="en-US" sz="5400">
                  <a:solidFill>
                    <a:srgbClr val="000000"/>
                  </a:solidFill>
                  <a:latin typeface="Agrandir"/>
                  <a:ea typeface="Agrandir"/>
                  <a:cs typeface="Agrandir"/>
                  <a:sym typeface="Agrandir"/>
                </a:rPr>
                <a:t>Conclusión 	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45299" y="3613188"/>
            <a:ext cx="14197402" cy="3992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97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El proyecto de sistema de reservas web para "Alto Bonito" se concluye exitosamente. Hemos implementado una arquitectura cliente-servidor (React/NestJS) con una base de datos PostgreSQL normalizada (3FN).</a:t>
            </a:r>
          </a:p>
          <a:p>
            <a:pPr algn="just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897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Esta solución erradica problemas críticos: el backend en NestJS, junto con validaciones rigurosas, elimina el riesgo de doble reserva, mientras que el diseño 3FN garantiza la integridad y trazabilidad de los datos.</a:t>
            </a:r>
          </a:p>
          <a:p>
            <a:pPr algn="just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897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  <a:p>
            <a:pPr algn="just">
              <a:lnSpc>
                <a:spcPts val="2897"/>
              </a:lnSpc>
            </a:pPr>
            <a:r>
              <a:rPr lang="en-US" sz="21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 plataforma resultante es segura, escalable y eficiente, optimizando la gestión de servicios (quincho, cancha, piscina) y transformando la experiencia de cliente hacia un modelo digital centralizado y confiable.</a:t>
            </a:r>
          </a:p>
          <a:p>
            <a:pPr algn="just">
              <a:lnSpc>
                <a:spcPts val="2268"/>
              </a:lnSpc>
            </a:pPr>
            <a:endParaRPr lang="en-US" sz="2100">
              <a:solidFill>
                <a:srgbClr val="000000"/>
              </a:solidFill>
              <a:latin typeface="Agrandir"/>
              <a:ea typeface="Agrandir"/>
              <a:cs typeface="Agrandir"/>
              <a:sym typeface="Agrandir"/>
            </a:endParaRPr>
          </a:p>
        </p:txBody>
      </p:sp>
      <p:sp>
        <p:nvSpPr>
          <p:cNvPr id="6" name="AutoShape 6"/>
          <p:cNvSpPr/>
          <p:nvPr/>
        </p:nvSpPr>
        <p:spPr>
          <a:xfrm rot="13305">
            <a:off x="-11929" y="1137040"/>
            <a:ext cx="6152284" cy="0"/>
          </a:xfrm>
          <a:prstGeom prst="line">
            <a:avLst/>
          </a:prstGeom>
          <a:ln w="9525" cap="rnd">
            <a:solidFill>
              <a:srgbClr val="F5F7F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7" name="Group 7"/>
          <p:cNvGrpSpPr/>
          <p:nvPr/>
        </p:nvGrpSpPr>
        <p:grpSpPr>
          <a:xfrm>
            <a:off x="188550" y="-153555"/>
            <a:ext cx="482643" cy="1914869"/>
            <a:chOff x="0" y="0"/>
            <a:chExt cx="150603" cy="5975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0603" cy="597511"/>
            </a:xfrm>
            <a:custGeom>
              <a:avLst/>
              <a:gdLst/>
              <a:ahLst/>
              <a:cxnLst/>
              <a:rect l="l" t="t" r="r" b="b"/>
              <a:pathLst>
                <a:path w="150603" h="597511">
                  <a:moveTo>
                    <a:pt x="150603" y="50179"/>
                  </a:moveTo>
                  <a:lnTo>
                    <a:pt x="150603" y="597511"/>
                  </a:lnTo>
                  <a:lnTo>
                    <a:pt x="75301" y="498451"/>
                  </a:lnTo>
                  <a:lnTo>
                    <a:pt x="0" y="597511"/>
                  </a:lnTo>
                  <a:lnTo>
                    <a:pt x="0" y="50179"/>
                  </a:lnTo>
                  <a:cubicBezTo>
                    <a:pt x="0" y="22860"/>
                    <a:pt x="9036" y="0"/>
                    <a:pt x="19578" y="0"/>
                  </a:cubicBezTo>
                  <a:lnTo>
                    <a:pt x="131024" y="0"/>
                  </a:lnTo>
                  <a:cubicBezTo>
                    <a:pt x="141566" y="0"/>
                    <a:pt x="150603" y="21590"/>
                    <a:pt x="150603" y="51611"/>
                  </a:cubicBezTo>
                  <a:close/>
                </a:path>
              </a:pathLst>
            </a:custGeom>
            <a:solidFill>
              <a:srgbClr val="1C30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50603" cy="5079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98511" y="522892"/>
            <a:ext cx="18105148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757070"/>
                </a:solidFill>
                <a:latin typeface="Agrandir"/>
                <a:ea typeface="Agrandir"/>
                <a:cs typeface="Agrandir"/>
                <a:sym typeface="Agrandir"/>
              </a:rPr>
              <a:t>PROYECTO “ALTO BONITO”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3158228" y="311325"/>
            <a:ext cx="4712109" cy="1178028"/>
            <a:chOff x="0" y="0"/>
            <a:chExt cx="6282812" cy="1570704"/>
          </a:xfrm>
        </p:grpSpPr>
        <p:sp>
          <p:nvSpPr>
            <p:cNvPr id="3" name="Freeform 3" descr="EscuelaIT Duoc UC - Escuela de Informática y Telecomunicaciones Duoc UC - Duoc  UC | LinkedIn"/>
            <p:cNvSpPr/>
            <p:nvPr/>
          </p:nvSpPr>
          <p:spPr>
            <a:xfrm>
              <a:off x="0" y="0"/>
              <a:ext cx="6282817" cy="1570736"/>
            </a:xfrm>
            <a:custGeom>
              <a:avLst/>
              <a:gdLst/>
              <a:ahLst/>
              <a:cxnLst/>
              <a:rect l="l" t="t" r="r" b="b"/>
              <a:pathLst>
                <a:path w="6282817" h="1570736">
                  <a:moveTo>
                    <a:pt x="0" y="0"/>
                  </a:moveTo>
                  <a:lnTo>
                    <a:pt x="6282817" y="0"/>
                  </a:lnTo>
                  <a:lnTo>
                    <a:pt x="6282817" y="1570736"/>
                  </a:lnTo>
                  <a:lnTo>
                    <a:pt x="0" y="1570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3194818" y="4421618"/>
            <a:ext cx="11898362" cy="1190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6600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PREGUNTAS DE LA COMISIÓN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880</Words>
  <Application>Microsoft Office PowerPoint</Application>
  <PresentationFormat>Personalizado</PresentationFormat>
  <Paragraphs>131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Agrandir Bold</vt:lpstr>
      <vt:lpstr>Calibri</vt:lpstr>
      <vt:lpstr>Arial</vt:lpstr>
      <vt:lpstr>Agrandir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 Presentación final (1).pptx</dc:title>
  <cp:lastModifiedBy>Jeanfranco Sanchez</cp:lastModifiedBy>
  <cp:revision>2</cp:revision>
  <dcterms:created xsi:type="dcterms:W3CDTF">2006-08-16T00:00:00Z</dcterms:created>
  <dcterms:modified xsi:type="dcterms:W3CDTF">2025-12-02T06:55:06Z</dcterms:modified>
  <dc:identifier>DAG6VdBkfmc</dc:identifier>
</cp:coreProperties>
</file>